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247" y="1737360"/>
            <a:ext cx="2743200" cy="81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926080"/>
            <a:ext cx="11247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Generación autónoma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Segoe UI"/>
              </a:rPr>
              <a:t>de microservicios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466344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CBD5E1"/>
                </a:solidFill>
                <a:latin typeface="Segoe UI"/>
              </a:rPr>
              <a:t>Dónde está la industria · cómo funciona · qué cuesta · hacia dónde vamos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C8AA0"/>
                </a:solidFill>
                <a:latin typeface="Segoe UI"/>
              </a:rPr>
              <a:t>Microservice Code Studio · Enterprise Architecture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Dónde está la industria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35661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566160" cy="82296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1 · Agentes generalistas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Dominan los rankings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Saturados y </a:t>
            </a:r>
            <a:r>
              <a:rPr sz="1300" b="1">
                <a:solidFill>
                  <a:srgbClr val="1E293B"/>
                </a:solidFill>
                <a:latin typeface="Segoe UI"/>
              </a:rPr>
              <a:t>caros</a:t>
            </a:r>
            <a:r>
              <a:rPr sz="1300" b="0">
                <a:solidFill>
                  <a:srgbClr val="1E293B"/>
                </a:solidFill>
                <a:latin typeface="Segoe UI"/>
              </a:rPr>
              <a:t> ($5–$30/tarea)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783080"/>
            <a:ext cx="35661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783080"/>
            <a:ext cx="3566160" cy="82296"/>
          </a:xfrm>
          <a:prstGeom prst="rect">
            <a:avLst/>
          </a:prstGeom>
          <a:solidFill>
            <a:srgbClr val="007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2 · Generadores por especificación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1">
                <a:solidFill>
                  <a:srgbClr val="1E293B"/>
                </a:solidFill>
                <a:latin typeface="Segoe UI"/>
              </a:rPr>
              <a:t>Nuestro camino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Solo 12–55% resuelto: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mucho espacio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783080"/>
            <a:ext cx="3566160" cy="3017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783080"/>
            <a:ext cx="3566160" cy="82296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11680"/>
            <a:ext cx="3017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3 · Agentes que se auto-mejoran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5176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Prometedor en laboratorio</a:t>
            </a:r>
          </a:p>
          <a:p>
            <a:pPr>
              <a:spcAft>
                <a:spcPts val="1200"/>
              </a:spcAft>
            </a:pPr>
            <a:r>
              <a:rPr sz="1300">
                <a:solidFill>
                  <a:srgbClr val="0076CE"/>
                </a:solidFill>
                <a:latin typeface="Segoe UI"/>
              </a:rPr>
              <a:t>▪  </a:t>
            </a:r>
            <a:r>
              <a:rPr sz="1300" b="0">
                <a:solidFill>
                  <a:srgbClr val="1E293B"/>
                </a:solidFill>
                <a:latin typeface="Segoe UI"/>
              </a:rPr>
              <a:t>En código real: mejora </a:t>
            </a:r>
            <a:r>
              <a:rPr sz="1300" b="1">
                <a:solidFill>
                  <a:srgbClr val="1E293B"/>
                </a:solidFill>
                <a:latin typeface="Segoe UI"/>
              </a:rPr>
              <a:t>casi nula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La lección de toda la investigación: el ingrediente que gana es una </a:t>
            </a:r>
            <a:r>
              <a:rPr sz="1800" b="1">
                <a:solidFill>
                  <a:srgbClr val="E20074"/>
                </a:solidFill>
                <a:latin typeface="Segoe UI"/>
              </a:rPr>
              <a:t>verificación de fiar</a:t>
            </a:r>
            <a:r>
              <a:rPr sz="1800" b="0">
                <a:solidFill>
                  <a:srgbClr val="1E293B"/>
                </a:solidFill>
                <a:latin typeface="Segoe UI"/>
              </a:rPr>
              <a:t>, no un modelo más listo.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Cómo funciona la solución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ow_it_work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8800"/>
            <a:ext cx="9966960" cy="13349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El proceso, de punta a punta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fecycl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20240"/>
            <a:ext cx="11155680" cy="10590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39496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Nueve etapas, de la especificación a la entrega — con la generación y la verificación en el centro.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Lo que eso garantiza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55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76CE"/>
                </a:solidFill>
                <a:latin typeface="Segoe UI"/>
              </a:rPr>
              <a:t>▪  </a:t>
            </a:r>
            <a:r>
              <a:rPr sz="2000" b="1">
                <a:solidFill>
                  <a:srgbClr val="1E293B"/>
                </a:solidFill>
                <a:latin typeface="Segoe UI"/>
              </a:rPr>
              <a:t>Se escribe</a:t>
            </a:r>
            <a:r>
              <a:rPr sz="2000" b="0">
                <a:solidFill>
                  <a:srgbClr val="1E293B"/>
                </a:solidFill>
                <a:latin typeface="Segoe UI"/>
              </a:rPr>
              <a:t> un servicio completo, no fragmentos: entidades, lógica, API, tests.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6CE"/>
                </a:solidFill>
                <a:latin typeface="Segoe UI"/>
              </a:rPr>
              <a:t>▪  </a:t>
            </a:r>
            <a:r>
              <a:rPr sz="2000" b="1">
                <a:solidFill>
                  <a:srgbClr val="1E293B"/>
                </a:solidFill>
                <a:latin typeface="Segoe UI"/>
              </a:rPr>
              <a:t>Se verifica</a:t>
            </a:r>
            <a:r>
              <a:rPr sz="2000" b="0">
                <a:solidFill>
                  <a:srgbClr val="1E293B"/>
                </a:solidFill>
                <a:latin typeface="Segoe UI"/>
              </a:rPr>
              <a:t> en un contenedor sellado, sin red: compila y pasa sus pruebas, o no se entrega.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6CE"/>
                </a:solidFill>
                <a:latin typeface="Segoe UI"/>
              </a:rPr>
              <a:t>▪  </a:t>
            </a:r>
            <a:r>
              <a:rPr sz="2000" b="1">
                <a:solidFill>
                  <a:srgbClr val="1E293B"/>
                </a:solidFill>
                <a:latin typeface="Segoe UI"/>
              </a:rPr>
              <a:t>Se autocorrige</a:t>
            </a:r>
            <a:r>
              <a:rPr sz="2000" b="0">
                <a:solidFill>
                  <a:srgbClr val="1E293B"/>
                </a:solidFill>
                <a:latin typeface="Segoe UI"/>
              </a:rPr>
              <a:t> hasta 3 veces; al tercer fallo se detiene y pide a un humano.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76CE"/>
                </a:solidFill>
                <a:latin typeface="Segoe UI"/>
              </a:rPr>
              <a:t>▪  </a:t>
            </a:r>
            <a:r>
              <a:rPr sz="2000" b="1">
                <a:solidFill>
                  <a:srgbClr val="1E293B"/>
                </a:solidFill>
                <a:latin typeface="Segoe UI"/>
              </a:rPr>
              <a:t>Se audita</a:t>
            </a:r>
            <a:r>
              <a:rPr sz="2000" b="0">
                <a:solidFill>
                  <a:srgbClr val="1E293B"/>
                </a:solidFill>
                <a:latin typeface="Segoe UI"/>
              </a:rPr>
              <a:t> el cumplimiento de las reglas del proyecto — no la opinión del modelo.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El coste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st_by_scop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6035040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92024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76CE"/>
                </a:solidFill>
                <a:latin typeface="Segoe UI"/>
              </a:rPr>
              <a:t>▪  </a:t>
            </a:r>
            <a:r>
              <a:rPr sz="1600" b="0">
                <a:solidFill>
                  <a:srgbClr val="1E293B"/>
                </a:solidFill>
                <a:latin typeface="Segoe UI"/>
              </a:rPr>
              <a:t>Un servicio (dificultad media, recién ejecutado): </a:t>
            </a:r>
            <a:r>
              <a:rPr sz="1600" b="1">
                <a:solidFill>
                  <a:srgbClr val="1E293B"/>
                </a:solidFill>
                <a:latin typeface="Segoe UI"/>
              </a:rPr>
              <a:t>$0.067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6CE"/>
                </a:solidFill>
                <a:latin typeface="Segoe UI"/>
              </a:rPr>
              <a:t>▪  </a:t>
            </a:r>
            <a:r>
              <a:rPr sz="1600" b="0">
                <a:solidFill>
                  <a:srgbClr val="1E293B"/>
                </a:solidFill>
                <a:latin typeface="Segoe UI"/>
              </a:rPr>
              <a:t>Rango por servicio: $0.052–$0.077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6CE"/>
                </a:solidFill>
                <a:latin typeface="Segoe UI"/>
              </a:rPr>
              <a:t>▪  </a:t>
            </a:r>
            <a:r>
              <a:rPr sz="1600" b="0">
                <a:solidFill>
                  <a:srgbClr val="1E293B"/>
                </a:solidFill>
                <a:latin typeface="Segoe UI"/>
              </a:rPr>
              <a:t>Un servicio </a:t>
            </a:r>
            <a:r>
              <a:rPr sz="1600" b="1">
                <a:solidFill>
                  <a:srgbClr val="1E293B"/>
                </a:solidFill>
                <a:latin typeface="Segoe UI"/>
              </a:rPr>
              <a:t>garantizado</a:t>
            </a:r>
            <a:r>
              <a:rPr sz="1600" b="0">
                <a:solidFill>
                  <a:srgbClr val="1E293B"/>
                </a:solidFill>
                <a:latin typeface="Segoe UI"/>
              </a:rPr>
              <a:t> (3 candidatos, se entrega el que compila): </a:t>
            </a:r>
            <a:r>
              <a:rPr sz="1600" b="1">
                <a:solidFill>
                  <a:srgbClr val="1E293B"/>
                </a:solidFill>
                <a:latin typeface="Segoe UI"/>
              </a:rPr>
              <a:t>$0.20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76CE"/>
                </a:solidFill>
                <a:latin typeface="Segoe UI"/>
              </a:rPr>
              <a:t>▪  </a:t>
            </a:r>
            <a:r>
              <a:rPr sz="1600" b="0">
                <a:solidFill>
                  <a:srgbClr val="1E293B"/>
                </a:solidFill>
                <a:latin typeface="Segoe UI"/>
              </a:rPr>
              <a:t>Acumulado: </a:t>
            </a:r>
            <a:r>
              <a:rPr sz="1600" b="1">
                <a:solidFill>
                  <a:srgbClr val="1E293B"/>
                </a:solidFill>
                <a:latin typeface="Segoe UI"/>
              </a:rPr>
              <a:t>$8.15</a:t>
            </a:r>
            <a:r>
              <a:rPr sz="1600" b="0">
                <a:solidFill>
                  <a:srgbClr val="1E293B"/>
                </a:solidFill>
                <a:latin typeface="Segoe UI"/>
              </a:rPr>
              <a:t> en 1.219 llamadas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Coste por etapa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st_by_stag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828800"/>
            <a:ext cx="7315200" cy="33250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4864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El test es la etapa más cara ($0.0061); dominio la más barata ($0.0012). El coste escala de forma predecible.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Tokens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último reporte de MLflow</a:t>
            </a:r>
          </a:p>
        </p:txBody>
      </p:sp>
      <p:pic>
        <p:nvPicPr>
          <p:cNvPr id="9" name="Picture 8" descr="tokens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6035040" cy="2743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0" y="192024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1031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76CE"/>
                </a:solidFill>
                <a:latin typeface="Segoe UI"/>
              </a:rPr>
              <a:t>19.0M</a:t>
            </a:r>
            <a:r>
              <a:rPr sz="2000" b="0">
                <a:solidFill>
                  <a:srgbClr val="1E293B"/>
                </a:solidFill>
                <a:latin typeface="Segoe UI"/>
              </a:rPr>
              <a:t>  tokens combinados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2880360"/>
            <a:ext cx="484632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0632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6.5M entrada · 12.5M salida · 2.2M caché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8620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0076CE"/>
                </a:solidFill>
                <a:latin typeface="Segoe UI"/>
              </a:rPr>
              <a:t>▪  </a:t>
            </a:r>
            <a:r>
              <a:rPr sz="1500" b="1">
                <a:solidFill>
                  <a:srgbClr val="1E293B"/>
                </a:solidFill>
                <a:latin typeface="Segoe UI"/>
              </a:rPr>
              <a:t>78K tokens</a:t>
            </a:r>
            <a:r>
              <a:rPr sz="1500" b="0">
                <a:solidFill>
                  <a:srgbClr val="1E293B"/>
                </a:solidFill>
                <a:latin typeface="Segoe UI"/>
              </a:rPr>
              <a:t> por servicio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0076CE"/>
                </a:solidFill>
                <a:latin typeface="Segoe UI"/>
              </a:rPr>
              <a:t>▪  </a:t>
            </a:r>
            <a:r>
              <a:rPr sz="1500" b="0">
                <a:solidFill>
                  <a:srgbClr val="1E293B"/>
                </a:solidFill>
                <a:latin typeface="Segoe UI"/>
              </a:rPr>
              <a:t>15.6K por llamada; salida ≈ 1.9× la entrada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El trabajo hecho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0076CE"/>
                </a:solidFill>
                <a:latin typeface="Segoe UI"/>
              </a:rPr>
              <a:t>▪  </a:t>
            </a:r>
            <a:r>
              <a:rPr sz="1900" b="1">
                <a:solidFill>
                  <a:srgbClr val="1E293B"/>
                </a:solidFill>
                <a:latin typeface="Segoe UI"/>
              </a:rPr>
              <a:t>La plataforma ya verifica su propia salida.</a:t>
            </a:r>
            <a:r>
              <a:rPr sz="1900" b="0">
                <a:solidFill>
                  <a:srgbClr val="1E293B"/>
                </a:solidFill>
                <a:latin typeface="Segoe UI"/>
              </a:rPr>
              <a:t> Antes reportaba «0 de 15 verificadas»; el bloqueo era un defecto de un carácter.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076CE"/>
                </a:solidFill>
                <a:latin typeface="Segoe UI"/>
              </a:rPr>
              <a:t>▪  </a:t>
            </a:r>
            <a:r>
              <a:rPr sz="1900" b="1">
                <a:solidFill>
                  <a:srgbClr val="1E293B"/>
                </a:solidFill>
                <a:latin typeface="Segoe UI"/>
              </a:rPr>
              <a:t>Ambas vías de producto compilan y prueban</a:t>
            </a:r>
            <a:r>
              <a:rPr sz="1900" b="0">
                <a:solidFill>
                  <a:srgbClr val="1E293B"/>
                </a:solidFill>
                <a:latin typeface="Segoe UI"/>
              </a:rPr>
              <a:t>, no solo una.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076CE"/>
                </a:solidFill>
                <a:latin typeface="Segoe UI"/>
              </a:rPr>
              <a:t>▪  </a:t>
            </a:r>
            <a:r>
              <a:rPr sz="1900" b="1">
                <a:solidFill>
                  <a:srgbClr val="1E293B"/>
                </a:solidFill>
                <a:latin typeface="Segoe UI"/>
              </a:rPr>
              <a:t>La métrica de calidad dejó de ser manipulable.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076CE"/>
                </a:solidFill>
                <a:latin typeface="Segoe UI"/>
              </a:rPr>
              <a:t>▪  </a:t>
            </a:r>
            <a:r>
              <a:rPr sz="1900" b="1">
                <a:solidFill>
                  <a:srgbClr val="1E293B"/>
                </a:solidFill>
                <a:latin typeface="Segoe UI"/>
              </a:rPr>
              <a:t>El registro de coste es honesto</a:t>
            </a:r>
            <a:r>
              <a:rPr sz="1900" b="0">
                <a:solidFill>
                  <a:srgbClr val="1E293B"/>
                </a:solidFill>
                <a:latin typeface="Segoe UI"/>
              </a:rPr>
              <a:t> y visible en MLflow.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0076CE"/>
                </a:solidFill>
                <a:latin typeface="Segoe UI"/>
              </a:rPr>
              <a:t>▪  </a:t>
            </a:r>
            <a:r>
              <a:rPr sz="1900" b="0">
                <a:solidFill>
                  <a:srgbClr val="1E293B"/>
                </a:solidFill>
                <a:latin typeface="Segoe UI"/>
              </a:rPr>
              <a:t>Queda </a:t>
            </a:r>
            <a:r>
              <a:rPr sz="1900" b="1">
                <a:solidFill>
                  <a:srgbClr val="1E293B"/>
                </a:solidFill>
                <a:latin typeface="Segoe UI"/>
              </a:rPr>
              <a:t>un punto abierto</a:t>
            </a:r>
            <a:r>
              <a:rPr sz="1900" b="0">
                <a:solidFill>
                  <a:srgbClr val="1E293B"/>
                </a:solidFill>
                <a:latin typeface="Segoe UI"/>
              </a:rPr>
              <a:t>: el verificador a veces cambia su veredicto (se corrige en la siguiente iteración).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El futuro: auto-mejora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E293B"/>
                </a:solidFill>
                <a:latin typeface="Segoe UI"/>
              </a:rPr>
              <a:t>Que el sistema aprenda de sus propios errores y mejore su «manual» de generación automáticamente.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1115568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82296" cy="82296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E20074"/>
                </a:solidFill>
                <a:latin typeface="Segoe UI"/>
              </a:rPr>
              <a:t>La evidencia exige: </a:t>
            </a:r>
            <a:r>
              <a:rPr sz="1700" b="0">
                <a:solidFill>
                  <a:srgbClr val="1E293B"/>
                </a:solidFill>
                <a:latin typeface="Segoe UI"/>
              </a:rPr>
              <a:t>un sistema que aprende de un juez ruidoso aprende ruido. El orden correcto 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1188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0076CE"/>
                </a:solidFill>
                <a:latin typeface="Segoe UI"/>
              </a:rPr>
              <a:t>▪  </a:t>
            </a:r>
            <a:r>
              <a:rPr sz="1800" b="0">
                <a:solidFill>
                  <a:srgbClr val="1E293B"/>
                </a:solidFill>
                <a:latin typeface="Segoe UI"/>
              </a:rPr>
              <a:t>Hacer </a:t>
            </a:r>
            <a:r>
              <a:rPr sz="1800" b="1">
                <a:solidFill>
                  <a:srgbClr val="1E293B"/>
                </a:solidFill>
                <a:latin typeface="Segoe UI"/>
              </a:rPr>
              <a:t>sólido el verificador</a:t>
            </a:r>
            <a:r>
              <a:rPr sz="1800" b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0076CE"/>
                </a:solidFill>
                <a:latin typeface="Segoe UI"/>
              </a:rPr>
              <a:t>▪  </a:t>
            </a:r>
            <a:r>
              <a:rPr sz="1800" b="0">
                <a:solidFill>
                  <a:srgbClr val="1E293B"/>
                </a:solidFill>
                <a:latin typeface="Segoe UI"/>
              </a:rPr>
              <a:t>Hacer que la </a:t>
            </a:r>
            <a:r>
              <a:rPr sz="1800" b="1">
                <a:solidFill>
                  <a:srgbClr val="1E293B"/>
                </a:solidFill>
                <a:latin typeface="Segoe UI"/>
              </a:rPr>
              <a:t>medida detecte</a:t>
            </a:r>
            <a:r>
              <a:rPr sz="1800" b="0">
                <a:solidFill>
                  <a:srgbClr val="1E293B"/>
                </a:solidFill>
                <a:latin typeface="Segoe UI"/>
              </a:rPr>
              <a:t> los fallos reales.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0076CE"/>
                </a:solidFill>
                <a:latin typeface="Segoe UI"/>
              </a:rPr>
              <a:t>▪  </a:t>
            </a:r>
            <a:r>
              <a:rPr sz="1800" b="1">
                <a:solidFill>
                  <a:srgbClr val="1E293B"/>
                </a:solidFill>
                <a:latin typeface="Segoe UI"/>
              </a:rPr>
              <a:t>Solo entonces</a:t>
            </a:r>
            <a:r>
              <a:rPr sz="1800" b="0">
                <a:solidFill>
                  <a:srgbClr val="1E293B"/>
                </a:solidFill>
                <a:latin typeface="Segoe UI"/>
              </a:rPr>
              <a:t>, encender el bucle de auto-mejora.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El mecanismo </a:t>
            </a:r>
            <a:r>
              <a:rPr sz="1700" b="1">
                <a:solidFill>
                  <a:srgbClr val="1E293B"/>
                </a:solidFill>
                <a:latin typeface="Segoe UI"/>
              </a:rPr>
              <a:t>ya está construido</a:t>
            </a:r>
            <a:r>
              <a:rPr sz="1700" b="0">
                <a:solidFill>
                  <a:srgbClr val="1E293B"/>
                </a:solidFill>
                <a:latin typeface="Segoe UI"/>
              </a:rPr>
              <a:t>; se enciende cuando la base sea fiable.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cs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"/>
            <a:ext cx="1041140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54880" y="128016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Segoe UI"/>
              </a:rPr>
              <a:t>Microservice Code Studio · </a:t>
            </a:r>
            <a:r>
              <a:rPr sz="1200" b="1">
                <a:solidFill>
                  <a:srgbClr val="FFFFFF"/>
                </a:solidFill>
                <a:latin typeface="Segoe UI"/>
              </a:rPr>
              <a:t>Enterprise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6928"/>
            <a:ext cx="12191695" cy="4572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804672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  <a:latin typeface="Segoe UI"/>
              </a:rPr>
              <a:t>El camino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822960" cy="54864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556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7315200"/>
                <a:gridCol w="2743200"/>
              </a:tblGrid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Paso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Qué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Segoe UI"/>
                        </a:rPr>
                        <a:t>Esfuerzo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6C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Sólido el verificador (una configuración)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corto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6C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Detectar fallos reales en la medida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corto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6C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Medir si un «manual» aporta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$3–$5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0076C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Encender la auto-mejora (ya construida)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E293B"/>
                          </a:solidFill>
                          <a:latin typeface="Segoe UI"/>
                        </a:rPr>
                        <a:t>condicionado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120640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120640"/>
            <a:ext cx="82296" cy="914400"/>
          </a:xfrm>
          <a:prstGeom prst="rect">
            <a:avLst/>
          </a:prstGeom>
          <a:solidFill>
            <a:srgbClr val="E20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De «no podía verificar su propia salida» a </a:t>
            </a:r>
            <a:r>
              <a:rPr sz="1700" b="1">
                <a:solidFill>
                  <a:srgbClr val="E20074"/>
                </a:solidFill>
                <a:latin typeface="Segoe UI"/>
              </a:rPr>
              <a:t>«genera, compila y verifica por $0.07, y se auto-mejorará cuando la base sea fiable»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