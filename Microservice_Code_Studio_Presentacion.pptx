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697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Slide 1 — Apertura
Buenos días. Hoy presentamos **Customer Lifecycle AI Assistant**, una solución creada para resolver un problema concreto: contratos y suscripciones que llegan a su vencimiento sin una gestión comercial oportuna.
La tesis es simple: cuando combinamos datos, IA generativa y control humano, podemos pasar de un proceso manual y reactivo a un flujo proactivo de retención.
Lo importante para esta competencia es que no presentamos solo una idea. Presentamos evidencia: **129 pruebas automatizadas**, **15 tablas reales**, **18 de 19 requisitos con cobertura completa** y un método de trabajo estructurado en **4 fases**.
En diez minutos queremos demostrar que la solución tiene impacto de negocio, solidez técnica y potencial de escala para el AI Lab Perú.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Slide 2 — Agenda ejecutiva
La presentación está diseñada para respetar los diez minutos y mantener foco ejecutivo.
Primero, vamos a explicar el dolor de negocio: contratos y suscripciones que vencen, equipos que dependen de hojas de cálculo y oportunidades de renovación que se pierden.
Segundo, vamos a mostrar el método del reto: **Discovery, Ideación, Building y Demo**, con entregables verificables por fase.
Tercero, vamos a explicar la solución construida: cómo usamos Spec Driven Development, las herramientas de IA y el stack técnico para llegar a una demo funcional.
Finalmente, cerramos con evidencia e impacto: pruebas reales, trazabilidad, control humano y una ruta clara para convertir esta demo en un piloto productivo.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Slide 3 — Método de trabajo
Esta es la lámina que conecta nuestra propuesta con el esquema del reto técnico. Trabajamos en cuatro fases: **Discovery, Ideación, Building y Demo**.
En **Discovery**, empezamos por el problema, no por la tecnología. Entendimos el dolor, los actores, las reglas de negocio y los criterios de éxito.
En **Ideación**, convertimos ese entendimiento en diseño: specs, componentes, arquitectura, decisiones técnicas y alcance del MVP. Esto permitió que el desarrollo fuera guiado por instrucciones claras.
En **Building**, construimos la solución con IA real: servicios, datos, frontend, orquestación LLM y pruebas automatizadas. Aquí la IA aceleró el trabajo, pero el método aseguró la calidad.
En **Demo**, validamos el flujo completo, reconciliamos documentación contra código y dejamos lecciones aprendidas y roadmap.
El mensaje clave es que cada fase terminó con evidencia. Eso reduce subjetividad, mejora la confianza del jurado y demuestra madurez para escalar.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Slide 4 — Construcción de la solución
Esta lámina responde a una pregunta clave del jurado: ¿cómo construimos la solución y qué herramientas usamos?
Aplicamos **Spec Driven Development**. Primero definimos funcionalidades, stack tecnológico y aspectos técnicos clave. Luego usamos IA para acelerar la construcción sobre una base clara.
Usamos **ChatGPT y Claude** para acotar el alcance, definir detalles técnicos y preparar instrucciones en Markdown. Después, **GitHub Copilot** ayudó con la generación del backend, y **Google AI Studio** apoyó la construcción del frontend. Finalmente, **Claude Code** integró back y front, corrigió bugs y pulió la aplicación final.
A nivel de modelo y runtime, usamos **Google Gemini** como LLM real, con un fallback offline determinístico para pruebas. El stack incluye **Python, FastAPI, Flask, LangGraph, SQLite y Gmail SMTP/IMAP**.
Lo importante es que el valor no vino de usar una herramienta de moda. El valor vino de orquestar personas, specs, modelos y validación para construir algo funcional y demostrable.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Slide 5 — Cierre ganador
Cerramos con evidencia y con una propuesta de siguiente paso.
Primero, la evidencia técnica: **129 pruebas automatizadas**, **0 fallos**, **18 de 19 requisitos cubiertos**, **7 inconsistencias corregidas** y **15 tablas reales de datos**. Esto demuestra que no estamos presentando una maqueta, sino una solución construida y validada.
Segundo, el impacto de negocio. El problema tiene impacto directo en ingresos: cada vencimiento no gestionado puede convertirse en una oportunidad perdida. La solución ayuda a detectar, contactar, priorizar y preparar al asesor comercial.
Tercero, la escalabilidad responsable. La propuesta incluye control humano, auditoría, fallback determinístico y pendientes identificados de seguridad, autenticación y despliegue cloud.
Nuestro pedido ejecutivo es concreto: pilotear con una cartera real y medir cuatro indicadores: tasa de contacto, intención positiva, recuperación y tiempo ahorrado por asesor.
Si el AI Lab Perú debe demostrar valor real, esta solución es un ejemplo claro: de una idea de negocio a una demo técnica verificable, con camino hacia un activo escalable.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37160" y="45720"/>
            <a:ext cx="2468880" cy="1280160"/>
          </a:xfrm>
          <a:prstGeom prst="arc">
            <a:avLst/>
          </a:prstGeom>
          <a:solidFill>
            <a:srgbClr val="050608">
              <a:alpha val="0"/>
            </a:srgbClr>
          </a:solidFill>
          <a:ln w="17780">
            <a:solidFill>
              <a:srgbClr val="9B5C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5257800"/>
            <a:ext cx="1920240" cy="1143000"/>
          </a:xfrm>
          <a:prstGeom prst="arc">
            <a:avLst/>
          </a:prstGeom>
          <a:solidFill>
            <a:srgbClr val="050608">
              <a:alpha val="0"/>
            </a:srgbClr>
          </a:solidFill>
          <a:ln w="15240">
            <a:solidFill>
              <a:srgbClr val="00D7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5669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0D7FF"/>
                </a:solidFill>
                <a:latin typeface="Century Gothic"/>
              </a:rPr>
              <a:t>AI LAB PERÚ · TATA CONSULTANCY SERVICES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713232" y="1078991"/>
            <a:ext cx="6858000" cy="2892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7FAFC"/>
                </a:solidFill>
                <a:latin typeface="Century Gothic"/>
              </a:rPr>
              <a:t>Microservice Code Studio</a:t>
            </a:r>
            <a:endParaRPr lang="en-US" sz="7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7FAFC"/>
                </a:solidFill>
                <a:latin typeface="Century Gothic"/>
              </a:rPr>
              <a:t>Arquitectura &amp; Java 21 Autónomo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49808" y="4325113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7FAFC"/>
                </a:solidFill>
                <a:latin typeface="Century Gothic"/>
              </a:rPr>
              <a:t>De especificaciones formales BDD a microservicios Java 21 / Spring Boot 3 con sandbox hermético, auto-reparación y control de calidad.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9808" y="5129785"/>
            <a:ext cx="5606168" cy="0"/>
          </a:xfrm>
          <a:prstGeom prst="line">
            <a:avLst/>
          </a:prstGeom>
          <a:noFill/>
          <a:ln w="15240">
            <a:solidFill>
              <a:srgbClr val="00D7FF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685800"/>
            <a:ext cx="3886200" cy="4462272"/>
          </a:xfrm>
          <a:prstGeom prst="roundRect">
            <a:avLst>
              <a:gd name="adj" fmla="val 1882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10058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A3D"/>
                </a:solidFill>
                <a:latin typeface="Century Gothic"/>
              </a:rPr>
              <a:t>RETO TÉCNICO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095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AFC"/>
                </a:solidFill>
                <a:latin typeface="Century Gothic"/>
              </a:rPr>
              <a:t>Negocio + IA + Evidencia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955280" y="2395728"/>
            <a:ext cx="530352" cy="530352"/>
          </a:xfrm>
          <a:prstGeom prst="ellipse">
            <a:avLst/>
          </a:prstGeom>
          <a:solidFill>
            <a:srgbClr val="2F80FF">
              <a:alpha val="90000"/>
            </a:srgbClr>
          </a:solidFill>
          <a:ln w="12700">
            <a:solidFill>
              <a:srgbClr val="2F8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85632" y="2660904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31272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AEB8C7"/>
                </a:solidFill>
                <a:latin typeface="Century Gothic"/>
              </a:rPr>
              <a:t>Ingestar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8796528" y="2395728"/>
            <a:ext cx="530352" cy="530352"/>
          </a:xfrm>
          <a:prstGeom prst="ellipse">
            <a:avLst/>
          </a:prstGeom>
          <a:solidFill>
            <a:srgbClr val="9B5CFF">
              <a:alpha val="90000"/>
            </a:srgbClr>
          </a:solidFill>
          <a:ln w="12700">
            <a:solidFill>
              <a:srgbClr val="9B5C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0" y="2660904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5088" y="31272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AEB8C7"/>
                </a:solidFill>
                <a:latin typeface="Century Gothic"/>
              </a:rPr>
              <a:t>Diseñar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9637776" y="2395728"/>
            <a:ext cx="530352" cy="530352"/>
          </a:xfrm>
          <a:prstGeom prst="ellipse">
            <a:avLst/>
          </a:prstGeom>
          <a:solidFill>
            <a:srgbClr val="00D7FF">
              <a:alpha val="90000"/>
            </a:srgbClr>
          </a:solidFill>
          <a:ln w="12700">
            <a:solidFill>
              <a:srgbClr val="00D7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68128" y="2660904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46336" y="31272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AEB8C7"/>
                </a:solidFill>
                <a:latin typeface="Century Gothic"/>
              </a:rPr>
              <a:t>Verificar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10479024" y="2395728"/>
            <a:ext cx="530352" cy="530352"/>
          </a:xfrm>
          <a:prstGeom prst="ellipse">
            <a:avLst/>
          </a:prstGeom>
          <a:solidFill>
            <a:srgbClr val="34D399">
              <a:alpha val="9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87584" y="31272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AEB8C7"/>
                </a:solidFill>
                <a:latin typeface="Century Gothic"/>
              </a:rPr>
              <a:t>Publicar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8001000" y="3886200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F7FAFC"/>
                </a:solidFill>
                <a:latin typeface="Century Gothic"/>
              </a:rPr>
              <a:t>La propuesta no busca solo 'escribir código'. Construye microservicios Java 21 herméticamente probados, alineados a la Constitución y listos para producción.</a:t>
            </a:r>
            <a:endParaRPr lang="en-US" sz="1200" dirty="0"/>
          </a:p>
        </p:txBody>
      </p:sp>
      <p:pic>
        <p:nvPicPr>
          <p:cNvPr id="33" name="Image 0" descr="/mnt/data/tcs_logo_h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217920"/>
            <a:ext cx="1508760" cy="4572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458200" y="6382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EB8C7"/>
                </a:solidFill>
                <a:latin typeface="Century Gothic"/>
              </a:rPr>
              <a:t>AI Lab Perú · TCS Microservice Code Studio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109960" y="63642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7FF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8"/>
          </a:solidFill>
          <a:ln w="12700">
            <a:solidFill>
              <a:srgbClr val="0506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5720"/>
            <a:ext cx="2468880" cy="1280160"/>
          </a:xfrm>
          <a:prstGeom prst="arc">
            <a:avLst/>
          </a:prstGeom>
          <a:solidFill>
            <a:srgbClr val="050608">
              <a:alpha val="0"/>
            </a:srgbClr>
          </a:solidFill>
          <a:ln w="17780">
            <a:solidFill>
              <a:srgbClr val="9B5C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5257800"/>
            <a:ext cx="1920240" cy="1143000"/>
          </a:xfrm>
          <a:prstGeom prst="arc">
            <a:avLst/>
          </a:prstGeom>
          <a:solidFill>
            <a:srgbClr val="050608">
              <a:alpha val="0"/>
            </a:srgbClr>
          </a:solidFill>
          <a:ln w="15240">
            <a:solidFill>
              <a:srgbClr val="00D7FF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863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7FAFC"/>
                </a:solidFill>
                <a:latin typeface="Century Gothic"/>
              </a:rPr>
              <a:t>Dolor y oportunidad</a:t>
            </a:r>
            <a:r>
              <a:rPr lang="en-US" sz="3200" b="1" dirty="0" err="1">
                <a:solidFill>
                  <a:srgbClr val="F7FAFC"/>
                </a:solidFill>
              </a:rPr>
              <a:t/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68680" y="1737360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5860" y="1892808"/>
            <a:ext cx="9624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19" b="1" dirty="0">
                <a:solidFill>
                  <a:srgbClr val="00D7FF"/>
                </a:solidFill>
                <a:latin typeface="Century Gothic"/>
              </a:rPr>
              <a:t>Desarrollo manual repetitivo (días por servicio): Escribir boilerplate de controladores, servicios, repositorios, entidades JPA y DTOs consume 70% del tiempo de sprint.</a:t>
            </a:r>
          </a:p>
        </p:txBody>
      </p:sp>
      <p:sp>
        <p:nvSpPr>
          <p:cNvPr id="13" name="Shape 11"/>
          <p:cNvSpPr/>
          <p:nvPr/>
        </p:nvSpPr>
        <p:spPr>
          <a:xfrm>
            <a:off x="868680" y="2688336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5860" y="2843784"/>
            <a:ext cx="9624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19" b="1" dirty="0">
                <a:solidFill>
                  <a:srgbClr val="34D399"/>
                </a:solidFill>
                <a:latin typeface="Century Gothic"/>
              </a:rPr>
              <a:t>Código alucinado y sin verificación real: LLMs convencionales generan dependencias incompatibles, fallos de tipado y código que no compila sin un entorno de pruebas hermético.</a:t>
            </a:r>
          </a:p>
        </p:txBody>
      </p:sp>
      <p:sp>
        <p:nvSpPr>
          <p:cNvPr id="18" name="Shape 16"/>
          <p:cNvSpPr/>
          <p:nvPr/>
        </p:nvSpPr>
        <p:spPr>
          <a:xfrm>
            <a:off x="868680" y="3639312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5860" y="3794760"/>
            <a:ext cx="9624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19" b="1" dirty="0">
                <a:solidFill>
                  <a:srgbClr val="9B5CFF"/>
                </a:solidFill>
                <a:latin typeface="Century Gothic"/>
              </a:rPr>
              <a:t>Brecha entre requerimientos BDD y código Java: Desconexión entre criterios Given/When/Then, contratos REST OpenAPI, esquemas SQL y pruebas unitarias Mockito.</a:t>
            </a:r>
            <a:r>
              <a:rPr lang="en-US" sz="1050" b="1" dirty="0">
                <a:solidFill>
                  <a:srgbClr val="9B5CFF"/>
                </a:solidFill>
              </a:rPr>
              <a:t/>
            </a:r>
            <a:r>
              <a:rPr lang="es-MX" sz="1050" b="1" dirty="0">
                <a:solidFill>
                  <a:srgbClr val="9B5CFF"/>
                </a:solidFill>
              </a:rPr>
              <a:t/>
            </a:r>
          </a:p>
          <a:p>
            <a:pPr marL="0" indent="0" algn="ctr">
              <a:buNone/>
            </a:pPr>
            <a:endParaRPr lang="es-MX" sz="1050" b="1" dirty="0">
              <a:solidFill>
                <a:srgbClr val="9B5C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68680" y="4590288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5860" y="4745736"/>
            <a:ext cx="9624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19" b="1" dirty="0">
                <a:solidFill>
                  <a:srgbClr val="FF8A3D"/>
                </a:solidFill>
                <a:latin typeface="Century Gothic"/>
              </a:rPr>
              <a:t>Ausencia de gobierno, SAST y despliegue: Riesgo de secretos persistidos en disco/BD, sin compuertas de calidad (Quality Gate) ni contenedores Docker/K8s listos para producción.</a:t>
            </a:r>
          </a:p>
        </p:txBody>
      </p:sp>
      <p:sp>
        <p:nvSpPr>
          <p:cNvPr id="28" name="Shape 26"/>
          <p:cNvSpPr/>
          <p:nvPr/>
        </p:nvSpPr>
        <p:spPr>
          <a:xfrm>
            <a:off x="914400" y="548640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B1020">
              <a:alpha val="85000"/>
            </a:srgbClr>
          </a:solidFill>
          <a:ln w="10160">
            <a:solidFill>
              <a:srgbClr val="00D7FF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5623560"/>
            <a:ext cx="9235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7FAFC"/>
                </a:solidFill>
                <a:latin typeface="Century Gothic"/>
              </a:rPr>
              <a:t>Tesis para el jurado: No generamos código por generar; construimos un estudio autónomo con Spec-Driven Development (SDD), compilación hermética (--network none) y auto-reparación acotada para garantizar microservicios Java 21 certificados.</a:t>
            </a:r>
            <a:endParaRPr lang="en-US" sz="1140" dirty="0"/>
          </a:p>
        </p:txBody>
      </p:sp>
      <p:pic>
        <p:nvPicPr>
          <p:cNvPr id="30" name="Image 0" descr="/mnt/data/tcs_logo_h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217920"/>
            <a:ext cx="1508760" cy="4572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458200" y="6382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EB8C7"/>
                </a:solidFill>
                <a:latin typeface="Century Gothic"/>
              </a:rPr>
              <a:t>AI Lab Perú · TCS Microservice Code Studio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109960" y="63642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7FF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8"/>
          </a:solidFill>
          <a:ln w="12700">
            <a:solidFill>
              <a:srgbClr val="0506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5720"/>
            <a:ext cx="2468880" cy="1280160"/>
          </a:xfrm>
          <a:prstGeom prst="arc">
            <a:avLst/>
          </a:prstGeom>
          <a:solidFill>
            <a:srgbClr val="050608">
              <a:alpha val="0"/>
            </a:srgbClr>
          </a:solidFill>
          <a:ln w="17780">
            <a:solidFill>
              <a:srgbClr val="9B5C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5257800"/>
            <a:ext cx="1920240" cy="1143000"/>
          </a:xfrm>
          <a:prstGeom prst="arc">
            <a:avLst/>
          </a:prstGeom>
          <a:solidFill>
            <a:srgbClr val="050608">
              <a:alpha val="0"/>
            </a:srgbClr>
          </a:solidFill>
          <a:ln w="15240">
            <a:solidFill>
              <a:srgbClr val="00D7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3891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7FF"/>
                </a:solidFill>
                <a:latin typeface="Century Gothic"/>
              </a:rPr>
              <a:t>MÉTODO DE TRABAJO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7863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C"/>
                </a:solidFill>
                <a:latin typeface="Century Gothic"/>
              </a:rPr>
              <a:t>De la idea al impacto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31520" y="13990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EB8C7"/>
                </a:solidFill>
                <a:latin typeface="Century Gothic"/>
              </a:rPr>
              <a:t>Mantenemos el esquema del reto: cuatro fases centradas en valor, usuario y evidencia.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49808" y="1874520"/>
            <a:ext cx="2514600" cy="3127248"/>
          </a:xfrm>
          <a:prstGeom prst="roundRect">
            <a:avLst>
              <a:gd name="adj" fmla="val 2909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99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0FF"/>
                </a:solidFill>
                <a:latin typeface="Century Gothic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08176" y="2093976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2F80FF"/>
                </a:solidFill>
                <a:latin typeface="Century Gothic"/>
              </a:rPr>
              <a:t>DISCOVERY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914400" y="2578608"/>
            <a:ext cx="2057400" cy="0"/>
          </a:xfrm>
          <a:prstGeom prst="line">
            <a:avLst/>
          </a:prstGeom>
          <a:noFill/>
          <a:ln w="15240">
            <a:solidFill>
              <a:srgbClr val="2F80FF">
                <a:alpha val="9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980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F7FAFC"/>
                </a:solidFill>
                <a:latin typeface="Century Gothic"/>
              </a:rPr>
              <a:t>Entender el problema</a:t>
            </a:r>
            <a:endParaRPr lang="en-US" sz="1410" dirty="0"/>
          </a:p>
        </p:txBody>
      </p:sp>
      <p:sp>
        <p:nvSpPr>
          <p:cNvPr id="13" name="Text 11"/>
          <p:cNvSpPr/>
          <p:nvPr/>
        </p:nvSpPr>
        <p:spPr>
          <a:xfrm>
            <a:off x="914400" y="327355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C7"/>
                </a:solidFill>
                <a:latin typeface="Century Gothic"/>
              </a:rPr>
              <a:t>Levantamiento de fricciones en ingeniería de microservicios, definición de historias BDD Given/When/Then y catálogo de requerimientos formales.</a:t>
            </a:r>
            <a:endParaRPr lang="en-US" sz="990" dirty="0"/>
          </a:p>
        </p:txBody>
      </p:sp>
      <p:sp>
        <p:nvSpPr>
          <p:cNvPr id="14" name="Text 12"/>
          <p:cNvSpPr/>
          <p:nvPr/>
        </p:nvSpPr>
        <p:spPr>
          <a:xfrm>
            <a:off x="914400" y="422452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7FAFC"/>
                </a:solidFill>
                <a:latin typeface="Century Gothic"/>
              </a:rPr>
              <a:t>Entregables: spec.md (Spec Kit), matriz de requerimientos funcionales/no funcionales y criterios de aceptación tipados.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3328416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84448" y="1874520"/>
            <a:ext cx="2514600" cy="3127248"/>
          </a:xfrm>
          <a:prstGeom prst="roundRect">
            <a:avLst>
              <a:gd name="adj" fmla="val 2909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0299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Century Gothic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42816" y="2093976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34D399"/>
                </a:solidFill>
                <a:latin typeface="Century Gothic"/>
              </a:rPr>
              <a:t>IDEACIÓN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3749040" y="2578608"/>
            <a:ext cx="2057400" cy="0"/>
          </a:xfrm>
          <a:prstGeom prst="line">
            <a:avLst/>
          </a:prstGeom>
          <a:noFill/>
          <a:ln w="15240">
            <a:solidFill>
              <a:srgbClr val="34D399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7980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F7FAFC"/>
                </a:solidFill>
                <a:latin typeface="Century Gothic"/>
              </a:rPr>
              <a:t>Diseñar la solución</a:t>
            </a:r>
            <a:endParaRPr lang="en-US" sz="1410" dirty="0"/>
          </a:p>
        </p:txBody>
      </p:sp>
      <p:sp>
        <p:nvSpPr>
          <p:cNvPr id="21" name="Text 19"/>
          <p:cNvSpPr/>
          <p:nvPr/>
        </p:nvSpPr>
        <p:spPr>
          <a:xfrm>
            <a:off x="3749040" y="327355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C7"/>
                </a:solidFill>
                <a:latin typeface="Century Gothic"/>
              </a:rPr>
              <a:t>Arquitectura en 4 capas estrictas (Controller ➔ Service ➔ Repository ➔ Model), contratos REST con Java Records inmutables y esquema relacional JPA.</a:t>
            </a:r>
            <a:endParaRPr lang="en-US" sz="990" dirty="0"/>
          </a:p>
        </p:txBody>
      </p:sp>
      <p:sp>
        <p:nvSpPr>
          <p:cNvPr id="22" name="Text 20"/>
          <p:cNvSpPr/>
          <p:nvPr/>
        </p:nvSpPr>
        <p:spPr>
          <a:xfrm>
            <a:off x="3749040" y="422452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7FAFC"/>
                </a:solidFill>
                <a:latin typeface="Century Gothic"/>
              </a:rPr>
              <a:t>Entregables: plan.md, data-model.md, diagramas Mermaid (arquitectura y ERD) y especificación OpenAPI.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163056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19088" y="1874520"/>
            <a:ext cx="2514600" cy="3127248"/>
          </a:xfrm>
          <a:prstGeom prst="roundRect">
            <a:avLst>
              <a:gd name="adj" fmla="val 2909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0299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5CFF"/>
                </a:solidFill>
                <a:latin typeface="Century Gothic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77456" y="2093976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9B5CFF"/>
                </a:solidFill>
                <a:latin typeface="Century Gothic"/>
              </a:rPr>
              <a:t>BUILDING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583680" y="2578608"/>
            <a:ext cx="2057400" cy="0"/>
          </a:xfrm>
          <a:prstGeom prst="line">
            <a:avLst/>
          </a:prstGeom>
          <a:noFill/>
          <a:ln w="15240">
            <a:solidFill>
              <a:srgbClr val="9B5CFF">
                <a:alpha val="9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7980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F7FAFC"/>
                </a:solidFill>
                <a:latin typeface="Century Gothic"/>
              </a:rPr>
              <a:t>Construir con IA</a:t>
            </a:r>
            <a:endParaRPr lang="en-US" sz="1410" dirty="0"/>
          </a:p>
        </p:txBody>
      </p:sp>
      <p:sp>
        <p:nvSpPr>
          <p:cNvPr id="29" name="Text 27"/>
          <p:cNvSpPr/>
          <p:nvPr/>
        </p:nvSpPr>
        <p:spPr>
          <a:xfrm>
            <a:off x="6583680" y="327355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C7"/>
                </a:solidFill>
                <a:latin typeface="Century Gothic"/>
              </a:rPr>
              <a:t>Orquestación LangGraph, backend FastAPI, sandbox Docker hermético (mvn test -o), motor de auto-reparación (máx. 3 intentos) y UI Streamlit.</a:t>
            </a:r>
            <a:endParaRPr lang="en-US" sz="990" dirty="0"/>
          </a:p>
        </p:txBody>
      </p:sp>
      <p:sp>
        <p:nvSpPr>
          <p:cNvPr id="30" name="Text 28"/>
          <p:cNvSpPr/>
          <p:nvPr/>
        </p:nvSpPr>
        <p:spPr>
          <a:xfrm>
            <a:off x="6583680" y="422452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7FAFC"/>
                </a:solidFill>
                <a:latin typeface="Century Gothic"/>
              </a:rPr>
              <a:t>Entregables: Microservice Studio funcional, 125 pruebas automatizadas al 100%, streaming SSE y auto-remediación SAST.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8997696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253728" y="1874520"/>
            <a:ext cx="2514600" cy="3127248"/>
          </a:xfrm>
          <a:prstGeom prst="roundRect">
            <a:avLst>
              <a:gd name="adj" fmla="val 2909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0" y="20299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Century Gothic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912096" y="2093976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8A3D"/>
                </a:solidFill>
                <a:latin typeface="Century Gothic"/>
              </a:rPr>
              <a:t>DEMO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9418320" y="2578608"/>
            <a:ext cx="2057400" cy="0"/>
          </a:xfrm>
          <a:prstGeom prst="line">
            <a:avLst/>
          </a:prstGeom>
          <a:noFill/>
          <a:ln w="15240">
            <a:solidFill>
              <a:srgbClr val="FF8A3D">
                <a:alpha val="9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27980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F7FAFC"/>
                </a:solidFill>
                <a:latin typeface="Century Gothic"/>
              </a:rPr>
              <a:t>Mostrar y aprender</a:t>
            </a:r>
            <a:endParaRPr lang="en-US" sz="1410" dirty="0"/>
          </a:p>
        </p:txBody>
      </p:sp>
      <p:sp>
        <p:nvSpPr>
          <p:cNvPr id="37" name="Text 35"/>
          <p:cNvSpPr/>
          <p:nvPr/>
        </p:nvSpPr>
        <p:spPr>
          <a:xfrm>
            <a:off x="9418320" y="327355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C7"/>
                </a:solidFill>
                <a:latin typeface="Century Gothic"/>
              </a:rPr>
              <a:t>Flujo E2E Auto-Pilot: desde prompt/spec.md hasta microservicio Java 21 compilado, verificado en sandbox, auditado en Quality Gate y exportado en ZIP/Git.</a:t>
            </a:r>
            <a:endParaRPr lang="en-US" sz="990" dirty="0"/>
          </a:p>
        </p:txBody>
      </p:sp>
      <p:sp>
        <p:nvSpPr>
          <p:cNvPr id="38" name="Text 36"/>
          <p:cNvSpPr/>
          <p:nvPr/>
        </p:nvSpPr>
        <p:spPr>
          <a:xfrm>
            <a:off x="9418320" y="422452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7FAFC"/>
                </a:solidFill>
                <a:latin typeface="Century Gothic"/>
              </a:rPr>
              <a:t>Entregables: Web Studio con 10 pestañas en vivo, suite de 125 tests verdes, pipeline Auto-Pilot y manifiestos DevOps (K8s/CI-CD).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786384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FAFC"/>
                </a:solidFill>
                <a:latin typeface="Century Gothic"/>
              </a:rPr>
              <a:t>Principios que elevaron la calidad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611880" y="54498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D7FF"/>
                </a:solidFill>
                <a:latin typeface="Century Gothic"/>
              </a:rPr>
              <a:t>Usuario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3611880" y="5733288"/>
            <a:ext cx="1143000" cy="0"/>
          </a:xfrm>
          <a:prstGeom prst="line">
            <a:avLst/>
          </a:prstGeom>
          <a:noFill/>
          <a:ln w="14605">
            <a:solidFill>
              <a:srgbClr val="00D7FF">
                <a:alpha val="8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54498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34D399"/>
                </a:solidFill>
                <a:latin typeface="Century Gothic"/>
              </a:rPr>
              <a:t>Datos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5074920" y="5733288"/>
            <a:ext cx="1143000" cy="0"/>
          </a:xfrm>
          <a:prstGeom prst="line">
            <a:avLst/>
          </a:prstGeom>
          <a:noFill/>
          <a:ln w="14605">
            <a:solidFill>
              <a:srgbClr val="34D399">
                <a:alpha val="88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54498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9B5CFF"/>
                </a:solidFill>
                <a:latin typeface="Century Gothic"/>
              </a:rPr>
              <a:t>IA responsable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6537960" y="5733288"/>
            <a:ext cx="1645920" cy="0"/>
          </a:xfrm>
          <a:prstGeom prst="line">
            <a:avLst/>
          </a:prstGeom>
          <a:noFill/>
          <a:ln w="14605">
            <a:solidFill>
              <a:srgbClr val="9B5CFF">
                <a:alpha val="8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41080" y="5449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8A3D"/>
                </a:solidFill>
                <a:latin typeface="Century Gothic"/>
              </a:rPr>
              <a:t>Evidencia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8641080" y="5733288"/>
            <a:ext cx="1371600" cy="0"/>
          </a:xfrm>
          <a:prstGeom prst="line">
            <a:avLst/>
          </a:prstGeom>
          <a:noFill/>
          <a:ln w="14605">
            <a:solidFill>
              <a:srgbClr val="FF8A3D">
                <a:alpha val="88000"/>
              </a:srgbClr>
            </a:solidFill>
            <a:prstDash val="solid"/>
          </a:ln>
        </p:spPr>
      </p:sp>
      <p:pic>
        <p:nvPicPr>
          <p:cNvPr id="48" name="Image 0" descr="/mnt/data/tcs_logo_h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217920"/>
            <a:ext cx="1508760" cy="45720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8458200" y="6382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EB8C7"/>
                </a:solidFill>
                <a:latin typeface="Century Gothic"/>
              </a:rPr>
              <a:t>AI Lab Perú · TCS Microservice Code Studio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109960" y="63642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7FF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8"/>
          </a:solidFill>
          <a:ln w="12700">
            <a:solidFill>
              <a:srgbClr val="0506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5720"/>
            <a:ext cx="2468880" cy="1280160"/>
          </a:xfrm>
          <a:prstGeom prst="arc">
            <a:avLst/>
          </a:prstGeom>
          <a:solidFill>
            <a:srgbClr val="050608">
              <a:alpha val="0"/>
            </a:srgbClr>
          </a:solidFill>
          <a:ln w="17780">
            <a:solidFill>
              <a:srgbClr val="9B5C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5257800"/>
            <a:ext cx="1920240" cy="1143000"/>
          </a:xfrm>
          <a:prstGeom prst="arc">
            <a:avLst/>
          </a:prstGeom>
          <a:solidFill>
            <a:srgbClr val="050608">
              <a:alpha val="0"/>
            </a:srgbClr>
          </a:solidFill>
          <a:ln w="15240">
            <a:solidFill>
              <a:srgbClr val="00D7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3891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7FF"/>
                </a:solidFill>
                <a:latin typeface="Century Gothic"/>
              </a:rPr>
              <a:t>CONSTRUCCIÓN DE LA SOLUCIÓN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7863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C"/>
                </a:solidFill>
                <a:latin typeface="Century Gothic"/>
              </a:rPr>
              <a:t>IA guiada por especificaciones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31520" y="13990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EB8C7"/>
                </a:solidFill>
                <a:latin typeface="Century Gothic"/>
              </a:rPr>
              <a:t>El valor no vino de una sola herramienta: vino de orquestar personas, specs, modelos y validación hermética.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49808" y="1856232"/>
            <a:ext cx="4892040" cy="3822192"/>
          </a:xfrm>
          <a:prstGeom prst="roundRect">
            <a:avLst>
              <a:gd name="adj" fmla="val 2094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Century Gothic"/>
              </a:rPr>
              <a:t>Spec Driven Development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260604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7FF"/>
                </a:solidFill>
                <a:latin typeface="Century Gothic"/>
              </a:rPr>
              <a:t>•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43584" y="26151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7FAFC"/>
                </a:solidFill>
                <a:latin typeface="Century Gothic"/>
              </a:rPr>
              <a:t>Specify / Spec Kit: Formalización de la Constitución v1.1.0, historias de usuario BDD y especificaciones ejecutables (spec.md, plan.md, tasks.md).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4128" y="315468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entury Gothic"/>
              </a:rPr>
              <a:t>•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1638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7FAFC"/>
                </a:solidFill>
                <a:latin typeface="Century Gothic"/>
              </a:rPr>
              <a:t>LangGraph Orchestration: Grafo de estados con nodos especializados (Scaffolding, Modelos JPA, DTOs Records, Servicios, Controllers y Tests Mockito).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24128" y="370332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3D"/>
                </a:solidFill>
                <a:latin typeface="Century Gothic"/>
              </a:rPr>
              <a:t>•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43584" y="37124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7FAFC"/>
                </a:solidFill>
                <a:latin typeface="Century Gothic"/>
              </a:rPr>
              <a:t>Hermetic Docker Sandbox: Aislamiento estricto con --network none y compilación offline (mvn test -o) contra repositorio Maven local de solo lectura.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425196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5CFF"/>
                </a:solidFill>
                <a:latin typeface="Century Gothic"/>
              </a:rPr>
              <a:t>•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42611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7FAFC"/>
                </a:solidFill>
                <a:latin typeface="Century Gothic"/>
              </a:rPr>
              <a:t>Self-Repair &amp; Pytest Suite: Máquina de auto-reparación acotada (máx 3 intentos) + suite de 125 tests automatizados pasando al 100%.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51560" y="4956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0D7FF"/>
                </a:solidFill>
                <a:latin typeface="Century Gothic"/>
              </a:rPr>
              <a:t>Modelo y runtime usados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1051560" y="5248656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EB8C7"/>
                </a:solidFill>
                <a:latin typeface="Century Gothic"/>
              </a:rPr>
              <a:t>Google Gemini 2.5 Flash / Groq · Python 3.12 · FastAPI · LangGraph · Streamlit · Docker · Java 21 LTS · Spring Boot 3.2 · Maven · PostgreSQL / SQLite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989320" y="1856232"/>
            <a:ext cx="5349240" cy="3822192"/>
          </a:xfrm>
          <a:prstGeom prst="roundRect">
            <a:avLst>
              <a:gd name="adj" fmla="val 1914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0116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7FAFC"/>
                </a:solidFill>
                <a:latin typeface="Century Gothic"/>
              </a:rPr>
              <a:t>Microservice Code Studio</a:t>
            </a:r>
            <a:r>
              <a:rPr lang="en-US" sz="1600" b="1" dirty="0" err="1">
                <a:solidFill>
                  <a:srgbClr val="F7FAFC"/>
                </a:solidFill>
              </a:rPr>
              <a:t/>
            </a:r>
            <a:r>
              <a:rPr lang="en-US" sz="1600" b="1" dirty="0">
                <a:solidFill>
                  <a:srgbClr val="F7FAFC"/>
                </a:solidFill>
              </a:rPr>
              <a:t/>
            </a:r>
            <a:endParaRPr lang="en-US" sz="1600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D84900CC-C8DE-231E-FD33-7EC1CF957E2C}"/>
              </a:ext>
            </a:extLst>
          </p:cNvPr>
          <p:cNvGrpSpPr/>
          <p:nvPr/>
        </p:nvGrpSpPr>
        <p:grpSpPr>
          <a:xfrm>
            <a:off x="10225591" y="2404872"/>
            <a:ext cx="932688" cy="621792"/>
            <a:chOff x="6355080" y="2761488"/>
            <a:chExt cx="932688" cy="621792"/>
          </a:xfrm>
        </p:grpSpPr>
        <p:sp>
          <p:nvSpPr>
            <p:cNvPr id="22" name="Shape 20"/>
            <p:cNvSpPr/>
            <p:nvPr/>
          </p:nvSpPr>
          <p:spPr>
            <a:xfrm>
              <a:off x="6355080" y="2761488"/>
              <a:ext cx="932688" cy="621792"/>
            </a:xfrm>
            <a:prstGeom prst="roundRect">
              <a:avLst>
                <a:gd name="adj" fmla="val 7353"/>
              </a:avLst>
            </a:prstGeom>
            <a:solidFill>
              <a:srgbClr val="111827"/>
            </a:solidFill>
            <a:ln w="13970">
              <a:solidFill>
                <a:srgbClr val="2F80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400800" y="2880360"/>
              <a:ext cx="841248" cy="460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7FAFC"/>
                  </a:solidFill>
                  <a:latin typeface="Century Gothic"/>
                </a:rPr>
                <a:t>Ingesta BDD &amp;
Auto-Pilot</a:t>
              </a:r>
              <a:endParaRPr lang="en-US" sz="840" dirty="0"/>
            </a:p>
            <a:p>
              <a:pPr marL="0" indent="0" algn="ctr">
                <a:buNone/>
              </a:pPr>
              <a:endParaRPr lang="en-US" sz="840" dirty="0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5CFDC667-59C9-F941-96B2-61FCB0B14405}"/>
              </a:ext>
            </a:extLst>
          </p:cNvPr>
          <p:cNvGrpSpPr/>
          <p:nvPr/>
        </p:nvGrpSpPr>
        <p:grpSpPr>
          <a:xfrm>
            <a:off x="10225591" y="3203448"/>
            <a:ext cx="932688" cy="621792"/>
            <a:chOff x="7507224" y="2761488"/>
            <a:chExt cx="932688" cy="621792"/>
          </a:xfrm>
        </p:grpSpPr>
        <p:sp>
          <p:nvSpPr>
            <p:cNvPr id="25" name="Shape 23"/>
            <p:cNvSpPr/>
            <p:nvPr/>
          </p:nvSpPr>
          <p:spPr>
            <a:xfrm>
              <a:off x="7507224" y="2761488"/>
              <a:ext cx="932688" cy="621792"/>
            </a:xfrm>
            <a:prstGeom prst="roundRect">
              <a:avLst>
                <a:gd name="adj" fmla="val 7353"/>
              </a:avLst>
            </a:prstGeom>
            <a:solidFill>
              <a:srgbClr val="111827"/>
            </a:solidFill>
            <a:ln w="13970">
              <a:solidFill>
                <a:srgbClr val="9B5C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552944" y="2775204"/>
              <a:ext cx="841248" cy="495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sz="800" b="1">
                  <a:solidFill>
                    <a:srgbClr val="F7FAFC"/>
                  </a:solidFill>
                  <a:latin typeface="Century Gothic"/>
                </a:rPr>
                <a:t>Sandbox Docker
Hermético</a:t>
              </a:r>
              <a:endParaRPr lang="en-US" sz="840" dirty="0"/>
            </a:p>
            <a:p>
              <a:pPr algn="ctr"/>
              <a:endParaRPr lang="en-US" sz="840" dirty="0"/>
            </a:p>
          </p:txBody>
        </p:sp>
      </p:grpSp>
      <p:sp>
        <p:nvSpPr>
          <p:cNvPr id="27" name="Text 25"/>
          <p:cNvSpPr/>
          <p:nvPr/>
        </p:nvSpPr>
        <p:spPr>
          <a:xfrm>
            <a:off x="8485632" y="29626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14AA6499-EAE0-279E-E6BD-F886CBF276A1}"/>
              </a:ext>
            </a:extLst>
          </p:cNvPr>
          <p:cNvGrpSpPr/>
          <p:nvPr/>
        </p:nvGrpSpPr>
        <p:grpSpPr>
          <a:xfrm>
            <a:off x="10222543" y="4000500"/>
            <a:ext cx="932688" cy="621792"/>
            <a:chOff x="8659368" y="2761488"/>
            <a:chExt cx="932688" cy="621792"/>
          </a:xfrm>
        </p:grpSpPr>
        <p:sp>
          <p:nvSpPr>
            <p:cNvPr id="28" name="Shape 26"/>
            <p:cNvSpPr/>
            <p:nvPr/>
          </p:nvSpPr>
          <p:spPr>
            <a:xfrm>
              <a:off x="8659368" y="2761488"/>
              <a:ext cx="932688" cy="621792"/>
            </a:xfrm>
            <a:prstGeom prst="roundRect">
              <a:avLst>
                <a:gd name="adj" fmla="val 7353"/>
              </a:avLst>
            </a:prstGeom>
            <a:solidFill>
              <a:srgbClr val="111827"/>
            </a:solidFill>
            <a:ln w="13970">
              <a:solidFill>
                <a:srgbClr val="00D7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8705088" y="2880360"/>
              <a:ext cx="841248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b="1" dirty="0" err="1">
                  <a:solidFill>
                    <a:srgbClr val="F7FAFC"/>
                  </a:solidFill>
                  <a:latin typeface="Century Gothic"/>
                </a:rPr>
                <a:t>Auto-Reparación
Acotada (3x)</a:t>
              </a:r>
              <a:r>
                <a:rPr lang="en-US" sz="840" b="1" dirty="0">
                  <a:solidFill>
                    <a:srgbClr val="00D7FF"/>
                  </a:solidFill>
                </a:rPr>
                <a:t/>
              </a:r>
              <a:r>
                <a:rPr lang="en-US" sz="840" b="1" dirty="0" err="1">
                  <a:solidFill>
                    <a:srgbClr val="00D7FF"/>
                  </a:solidFill>
                </a:rPr>
                <a:t/>
              </a:r>
              <a:endParaRPr lang="en-US" sz="840" dirty="0"/>
            </a:p>
          </p:txBody>
        </p:sp>
      </p:grpSp>
      <p:sp>
        <p:nvSpPr>
          <p:cNvPr id="30" name="Text 28"/>
          <p:cNvSpPr/>
          <p:nvPr/>
        </p:nvSpPr>
        <p:spPr>
          <a:xfrm rot="5400000">
            <a:off x="10606591" y="305638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AFC"/>
                </a:solidFill>
              </a:rPr>
              <a:t>→</a:t>
            </a:r>
            <a:endParaRPr lang="en-US" sz="1300" dirty="0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06087C09-F4AD-74A7-B9B1-52BCB2DDC43F}"/>
              </a:ext>
            </a:extLst>
          </p:cNvPr>
          <p:cNvGrpSpPr/>
          <p:nvPr/>
        </p:nvGrpSpPr>
        <p:grpSpPr>
          <a:xfrm>
            <a:off x="10244178" y="4799076"/>
            <a:ext cx="932688" cy="621792"/>
            <a:chOff x="9811512" y="2761488"/>
            <a:chExt cx="932688" cy="621792"/>
          </a:xfrm>
        </p:grpSpPr>
        <p:sp>
          <p:nvSpPr>
            <p:cNvPr id="31" name="Shape 29"/>
            <p:cNvSpPr/>
            <p:nvPr/>
          </p:nvSpPr>
          <p:spPr>
            <a:xfrm>
              <a:off x="9811512" y="2761488"/>
              <a:ext cx="932688" cy="621792"/>
            </a:xfrm>
            <a:prstGeom prst="roundRect">
              <a:avLst>
                <a:gd name="adj" fmla="val 7353"/>
              </a:avLst>
            </a:prstGeom>
            <a:solidFill>
              <a:srgbClr val="111827"/>
            </a:solidFill>
            <a:ln w="13970">
              <a:solidFill>
                <a:srgbClr val="34D399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9857232" y="2880360"/>
              <a:ext cx="841248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 algn="ctr">
                <a:buNone/>
              </a:pPr>
              <a:r>
                <a:rPr lang="en-US" sz="800" b="1" dirty="0" err="1">
                  <a:solidFill>
                    <a:srgbClr val="F7FAFC"/>
                  </a:solidFill>
                  <a:latin typeface="Century Gothic"/>
                </a:rPr>
                <a:t>Quality Gate &amp;
DevOps K8s</a:t>
              </a:r>
              <a:r>
                <a:rPr lang="en-US" sz="840" b="1" dirty="0">
                  <a:solidFill>
                    <a:srgbClr val="34D399"/>
                  </a:solidFill>
                </a:rPr>
                <a:t/>
              </a:r>
              <a:r>
                <a:rPr lang="en-US" sz="840" b="1" dirty="0" err="1">
                  <a:solidFill>
                    <a:srgbClr val="34D399"/>
                  </a:solidFill>
                </a:rPr>
                <a:t/>
              </a:r>
              <a:r>
                <a:rPr lang="en-US" sz="840" b="1" dirty="0">
                  <a:solidFill>
                    <a:srgbClr val="34D399"/>
                  </a:solidFill>
                </a:rPr>
                <a:t/>
              </a:r>
              <a:r>
                <a:rPr lang="en-US" sz="840" b="1" dirty="0" err="1">
                  <a:solidFill>
                    <a:srgbClr val="34D399"/>
                  </a:solidFill>
                </a:rPr>
                <a:t/>
              </a:r>
              <a:r>
                <a:rPr lang="en-US" sz="840" b="1" dirty="0">
                  <a:solidFill>
                    <a:srgbClr val="34D399"/>
                  </a:solidFill>
                </a:rPr>
                <a:t/>
              </a:r>
              <a:endParaRPr lang="en-US" sz="840" dirty="0"/>
            </a:p>
          </p:txBody>
        </p:sp>
      </p:grpSp>
      <p:pic>
        <p:nvPicPr>
          <p:cNvPr id="35" name="Image 1" descr="/mnt/data/tcs_logo_h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217920"/>
            <a:ext cx="1508760" cy="4572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458200" y="6382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EB8C7"/>
                </a:solidFill>
                <a:latin typeface="Century Gothic"/>
              </a:rPr>
              <a:t>AI Lab Perú · TCS Microservice Code Studio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11109960" y="63642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7FF"/>
                </a:solidFill>
              </a:rPr>
              <a:t>04</a:t>
            </a:r>
            <a:endParaRPr lang="en-US" sz="850" dirty="0"/>
          </a:p>
        </p:txBody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21BE54E3-366A-0AC4-645C-19BE27F811FC}"/>
              </a:ext>
            </a:extLst>
          </p:cNvPr>
          <p:cNvSpPr/>
          <p:nvPr/>
        </p:nvSpPr>
        <p:spPr>
          <a:xfrm rot="5400000">
            <a:off x="10606591" y="38496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AFC"/>
                </a:solidFill>
              </a:rPr>
              <a:t>→</a:t>
            </a:r>
            <a:endParaRPr lang="en-US" sz="1300" dirty="0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EF7BDBCD-A9B6-BBA1-B995-73F4C61AA26A}"/>
              </a:ext>
            </a:extLst>
          </p:cNvPr>
          <p:cNvSpPr/>
          <p:nvPr/>
        </p:nvSpPr>
        <p:spPr>
          <a:xfrm rot="5400000">
            <a:off x="10606591" y="464210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AFC"/>
                </a:solidFill>
              </a:rPr>
              <a:t>→</a:t>
            </a:r>
            <a:endParaRPr lang="en-US" sz="1300" dirty="0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31B41B79-569D-ACAF-BB4A-28D0C884D23E}"/>
              </a:ext>
            </a:extLst>
          </p:cNvPr>
          <p:cNvSpPr/>
          <p:nvPr/>
        </p:nvSpPr>
        <p:spPr>
          <a:xfrm>
            <a:off x="6263640" y="2395728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tabLst/>
              <a:defRPr/>
              <a:spcAft>
                <a:spcPts val="200"/>
              </a:spcAft>
              <a:buNone/>
            </a:pPr>
            <a:r>
              <a:rPr kumimoji="0" lang="es-PE" sz="1000" b="1" i="0" u="none" strike="noStrike" kern="1200" cap="none" spc="0" normalizeH="0" baseline="0" noProof="0" dirty="0">
                <a:ln>
                  <a:noFill/>
                </a:ln>
                <a:solidFill>
                  <a:srgbClr val="F7FAF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• Inicio Rápido &amp; Auto-Pilot: </a:t>
            </a:r>
            <a:r>
              <a:rPr sz="950" b="0">
                <a:solidFill>
                  <a:srgbClr val="D1D5DB"/>
                </a:solidFill>
                <a:latin typeface="Century Gothic"/>
              </a:rPr>
              <a:t>Síntesis autónoma 1-Click o modo asistido con controles hot-pause, resume y cancel en caliente.</a:t>
            </a:r>
          </a:p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tabLst/>
              <a:defRPr/>
              <a:spcAft>
                <a:spcPts val="200"/>
              </a:spcAft>
              <a:buNone/>
            </a:pPr>
            <a:r>
              <a:rPr sz="1000" b="1">
                <a:solidFill>
                  <a:srgbClr val="F7FAFC"/>
                </a:solidFill>
                <a:latin typeface="Century Gothic"/>
              </a:rPr>
              <a:t>• Ingesta Dual BDD (Spec Kit): </a:t>
            </a:r>
            <a:r>
              <a:rPr sz="950" b="0">
                <a:solidFill>
                  <a:srgbClr val="D1D5DB"/>
                </a:solidFill>
                <a:latin typeface="Century Gothic"/>
              </a:rPr>
              <a:t>Carga de spec.md o JSON blueprint con validación formal de criterios Given/When/Then.</a:t>
            </a:r>
            <a:endParaRPr kumimoji="0" lang="es-PE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tabLst/>
              <a:defRPr/>
              <a:spcAft>
                <a:spcPts val="200"/>
              </a:spcAft>
              <a:buNone/>
            </a:pPr>
            <a:r>
              <a:rPr kumimoji="0" lang="es-PE" sz="1000" b="1" i="0" u="none" strike="noStrike" kern="1200" cap="none" spc="0" normalizeH="0" baseline="0" noProof="0" dirty="0">
                <a:ln>
                  <a:noFill/>
                </a:ln>
                <a:solidFill>
                  <a:srgbClr val="F7FAF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• Arquitectura 4 Capas &amp; JPA: </a:t>
            </a:r>
            <a:r>
              <a:rPr sz="950" b="0">
                <a:solidFill>
                  <a:srgbClr val="D1D5DB"/>
                </a:solidFill>
                <a:latin typeface="Century Gothic"/>
              </a:rPr>
              <a:t>Topología limpia (Controller➔Service➔Repo➔Model), DTOs Java Records inmutables y scripts SQL sincronizados.</a:t>
            </a:r>
          </a:p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tabLst/>
              <a:defRPr/>
              <a:spcAft>
                <a:spcPts val="200"/>
              </a:spcAft>
              <a:buNone/>
            </a:pPr>
            <a:r>
              <a:rPr sz="1000" b="1">
                <a:solidFill>
                  <a:srgbClr val="F7FAFC"/>
                </a:solidFill>
                <a:latin typeface="Century Gothic"/>
              </a:rPr>
              <a:t>• Sandbox Hermético Offline: </a:t>
            </a:r>
            <a:r>
              <a:rPr sz="950" b="0">
                <a:solidFill>
                  <a:srgbClr val="D1D5DB"/>
                </a:solidFill>
                <a:latin typeface="Century Gothic"/>
              </a:rPr>
              <a:t>Compilación y pruebas Mockito con --network none contra caché .m2 de solo lectura inmutable.</a:t>
            </a:r>
            <a:endParaRPr kumimoji="0" lang="es-PE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tabLst/>
              <a:defRPr/>
              <a:spcAft>
                <a:spcPts val="200"/>
              </a:spcAft>
              <a:buNone/>
            </a:pPr>
            <a:r>
              <a:rPr kumimoji="0" lang="es-PE" sz="1000" b="1" i="0" u="none" strike="noStrike" kern="1200" cap="none" spc="0" normalizeH="0" baseline="0" noProof="0" dirty="0">
                <a:ln>
                  <a:noFill/>
                </a:ln>
                <a:solidFill>
                  <a:srgbClr val="F7FAF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• Auto-Reparación Acotada (3x): </a:t>
            </a:r>
            <a:r>
              <a:rPr sz="950" b="0">
                <a:solidFill>
                  <a:srgbClr val="D1D5DB"/>
                </a:solidFill>
                <a:latin typeface="Century Gothic"/>
              </a:rPr>
              <a:t>Diagnóstico automático de trazas Maven con auto-parcheo de código antes de escalar a HITL.</a:t>
            </a:r>
          </a:p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tabLst/>
              <a:defRPr/>
              <a:spcAft>
                <a:spcPts val="200"/>
              </a:spcAft>
              <a:buNone/>
            </a:pPr>
            <a:r>
              <a:rPr sz="1000" b="1">
                <a:solidFill>
                  <a:srgbClr val="F7FAFC"/>
                </a:solidFill>
                <a:latin typeface="Century Gothic"/>
              </a:rPr>
              <a:t>• Quality Gate SAST &amp; DevOps: </a:t>
            </a:r>
            <a:r>
              <a:rPr sz="950" b="0">
                <a:solidFill>
                  <a:srgbClr val="D1D5DB"/>
                </a:solidFill>
                <a:latin typeface="Century Gothic"/>
              </a:rPr>
              <a:t>Cero secretos persistidos, reporte estático 100/100, Dockerfile multi-stage, Compose y K8s.</a:t>
            </a:r>
            <a:endParaRPr kumimoji="0" lang="es-PE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8"/>
          </a:solidFill>
          <a:ln w="12700">
            <a:solidFill>
              <a:srgbClr val="0506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5720"/>
            <a:ext cx="2468880" cy="1280160"/>
          </a:xfrm>
          <a:prstGeom prst="arc">
            <a:avLst/>
          </a:prstGeom>
          <a:solidFill>
            <a:srgbClr val="050608">
              <a:alpha val="0"/>
            </a:srgbClr>
          </a:solidFill>
          <a:ln w="17780">
            <a:solidFill>
              <a:srgbClr val="9B5C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5257800"/>
            <a:ext cx="1920240" cy="1143000"/>
          </a:xfrm>
          <a:prstGeom prst="arc">
            <a:avLst/>
          </a:prstGeom>
          <a:solidFill>
            <a:srgbClr val="050608">
              <a:alpha val="0"/>
            </a:srgbClr>
          </a:solidFill>
          <a:ln w="15240">
            <a:solidFill>
              <a:srgbClr val="00D7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3891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7FF"/>
                </a:solidFill>
                <a:latin typeface="Century Gothic"/>
              </a:rPr>
              <a:t>CIERRE GANADOR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588085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C"/>
                </a:solidFill>
                <a:latin typeface="Century Gothic"/>
              </a:rPr>
              <a:t>Evidencia, impacto y escalabilidad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22376" y="976705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EB8C7"/>
                </a:solidFill>
                <a:latin typeface="Century Gothic"/>
              </a:rPr>
              <a:t>Una solución técnica real convertida en activo estratégico para la aceleración del ciclo de software.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731520" y="404106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AFC"/>
                </a:solidFill>
                <a:latin typeface="Century Gothic"/>
              </a:rPr>
              <a:t>Highlights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2376" y="4409111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461027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D7FF"/>
                </a:solidFill>
                <a:latin typeface="Century Gothic"/>
              </a:rPr>
              <a:t>Impacto de negocio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" y="4939463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7FAFC"/>
                </a:solidFill>
                <a:latin typeface="Century Gothic"/>
              </a:rPr>
              <a:t>Reduce el tiempo de creación de microservicios de semanas a menos de 2 minutos, elimina el 100% de errores de boilerplate y estandariza arquitectura Java 21 sin deuda técnica.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9704" y="4409111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461027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B5CFF"/>
                </a:solidFill>
                <a:latin typeface="Century Gothic"/>
              </a:rPr>
              <a:t>Solidez técnica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72584" y="4939463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7FAFC"/>
                </a:solidFill>
                <a:latin typeface="Century Gothic"/>
              </a:rPr>
              <a:t>No es un generador alucinado: cuenta con sandbox Docker hermético (--network none), 125 tests automatizados al 100%, compilación Maven real y auto-reparación acotada.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57032" y="4409111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461027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entury Gothic"/>
              </a:rPr>
              <a:t>Escala responsable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39912" y="4939463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7FAFC"/>
                </a:solidFill>
                <a:latin typeface="Century Gothic"/>
              </a:rPr>
              <a:t>Cumplimiento de la Constitución v1.1.0: cero secretos persistidos, compuertas de calidad (Quality Gate), auditoría SAST con auto-parcheo y control humano innegociable (HITL).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87552" y="5632704"/>
            <a:ext cx="10287000" cy="530352"/>
          </a:xfrm>
          <a:prstGeom prst="roundRect">
            <a:avLst>
              <a:gd name="adj" fmla="val 13793"/>
            </a:avLst>
          </a:prstGeom>
          <a:solidFill>
            <a:srgbClr val="0B1020">
              <a:alpha val="88000"/>
            </a:srgbClr>
          </a:solidFill>
          <a:ln w="10160">
            <a:solidFill>
              <a:srgbClr val="00D7FF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9304" y="5806440"/>
            <a:ext cx="9646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AFC"/>
                </a:solidFill>
                <a:latin typeface="Century Gothic"/>
              </a:rPr>
              <a:t>Siguiente paso ejecutivo: Desplegar piloto en equipos de desarrollo corporativo, integrar con el catálogo central de APIs y habilitar plantillas de microservicios cloud-native.</a:t>
            </a:r>
            <a:endParaRPr lang="en-US" sz="1080" dirty="0"/>
          </a:p>
        </p:txBody>
      </p:sp>
      <p:pic>
        <p:nvPicPr>
          <p:cNvPr id="31" name="Image 0" descr="/mnt/data/tcs_logo_h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217920"/>
            <a:ext cx="1508760" cy="4572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458200" y="6382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EB8C7"/>
                </a:solidFill>
                <a:latin typeface="Century Gothic"/>
              </a:rPr>
              <a:t>AI Lab Perú · TCS Microservice Code Studio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1109960" y="63642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7FF"/>
                </a:solidFill>
              </a:rPr>
              <a:t>05</a:t>
            </a:r>
            <a:endParaRPr lang="en-US" sz="85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F95E9288-64BB-9932-8F8B-A0A623D26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053" y="1587650"/>
            <a:ext cx="4530805" cy="2041586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7B47709C-3861-0D7C-A763-2C7DCC2B8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737" y="1587650"/>
            <a:ext cx="4476419" cy="20415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1564</Words>
  <Application>Microsoft Office PowerPoint</Application>
  <PresentationFormat>Panorámica</PresentationFormat>
  <Paragraphs>118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Tata Consultancy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Lifecycle AI Assistant</dc:title>
  <dc:subject>Reto técnico AI Lab Perú</dc:subject>
  <dc:creator>TCS Perú AI Lab</dc:creator>
  <cp:lastModifiedBy>William Vega</cp:lastModifiedBy>
  <cp:revision>3</cp:revision>
  <dcterms:created xsi:type="dcterms:W3CDTF">2026-07-18T22:25:34Z</dcterms:created>
  <dcterms:modified xsi:type="dcterms:W3CDTF">2026-09-11T08:33:30Z</dcterms:modified>
</cp:coreProperties>
</file>